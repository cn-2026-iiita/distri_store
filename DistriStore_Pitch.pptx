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21440" y="6400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21440" y="141731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21440" y="21945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521440" y="29718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2144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21440" y="45262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0" y="5303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0" y="60807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 Semibold"/>
              </a:rPr>
              <a:t>TRACKERLESS · ENCRYPTED · ZERO-TRUST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E6ECF7"/>
                </a:solidFill>
                <a:latin typeface="Segoe UI"/>
              </a:rPr>
              <a:t>DistriStore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97A1B7"/>
                </a:solidFill>
                <a:latin typeface="Segoe UI Light"/>
              </a:rPr>
              <a:t>A LAN-Optimized P2P Distributed Storage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26280"/>
            <a:ext cx="54864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079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ECF7"/>
                </a:solidFill>
                <a:latin typeface="Segoe UI"/>
              </a:rPr>
              <a:t>Upload anywhere · Retrieve anywhere · No central server, no tracker, no trust assumptions.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F"/>
                </a:solidFill>
                <a:latin typeface="Segoe UI Semibold"/>
              </a:rPr>
              <a:t>Course Project  ·  Computer Networks  ·  IIIT Allahabad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WHAT IS DISTRISTORE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The one-line pitch.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23774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73152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22D3EE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6ECF7"/>
                </a:solidFill>
                <a:latin typeface="Segoe UI Light"/>
              </a:rPr>
              <a:t>A storage fabric where any node can upload any file, any other node can fetch it by hash, every byte is end-to-end encrypted, every chunk is cryptographically verifiable — and no central server, tracker, or coordinator exists anywhere in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20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33832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Trackerless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No coordinator, no DHT bootstrap, no central directory.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5720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4572000"/>
            <a:ext cx="338328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Segoe UI"/>
              </a:rPr>
              <a:t>Verifiable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212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Merkle + AES-256-GCM means tampered chunks can't lie.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45720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4572000"/>
            <a:ext cx="33832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Self-healing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12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Replication + audits + reputation keep data alive.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INTRO 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Today's storage is centralized or fragile.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928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B7185"/>
                </a:solidFill>
                <a:latin typeface="Segoe UI"/>
              </a:rPr>
              <a:t>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56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B7185"/>
                </a:solidFill>
                <a:latin typeface="Segoe UI"/>
              </a:rPr>
              <a:t>Cloud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379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CF7"/>
                </a:solidFill>
                <a:latin typeface="Segoe UI"/>
              </a:rPr>
              <a:t>Dropbox / Drive / S3 — single trust anchor, single failure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6712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7A1B7"/>
                </a:solidFill>
                <a:latin typeface="Segoe UI"/>
              </a:rPr>
              <a:t>Provider sees plaintext metadata, rate-limits you, can disable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07792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BBF24"/>
                </a:solidFill>
                <a:latin typeface="Segoe UI"/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0723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Tracker-based P2P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5409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CF7"/>
                </a:solidFill>
                <a:latin typeface="Segoe UI"/>
              </a:rPr>
              <a:t>BitTorrent — needs trackers or DHT bootstrap servers to even find peers.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7A1B7"/>
                </a:solidFill>
                <a:latin typeface="Segoe UI"/>
              </a:rPr>
              <a:t>No native end-to-end encryption; no built-in access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23944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2511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BBF24"/>
                </a:solidFill>
                <a:latin typeface="Segoe U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885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IPFS / content-addressed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7024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CF7"/>
                </a:solidFill>
                <a:latin typeface="Segoe UI"/>
              </a:rPr>
              <a:t>Public CIDs — anyone with the hash can read anything.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59943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7A1B7"/>
                </a:solidFill>
                <a:latin typeface="Segoe UI"/>
              </a:rPr>
              <a:t>No recipient gating, no privacy. Default-public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40096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54126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BBF24"/>
                </a:solidFill>
                <a:latin typeface="Segoe UI"/>
              </a:rP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5046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Enterprise distributed 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486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CF7"/>
                </a:solidFill>
                <a:latin typeface="Segoe UI"/>
              </a:rPr>
              <a:t>Ceph / GlusterFS — heavy, coordinator nodes, ops burden.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81558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7A1B7"/>
                </a:solidFill>
                <a:latin typeface="Segoe UI"/>
              </a:rPr>
              <a:t>Built for datacenters, not consumer LANs or ad-hoc clusters.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INTRO 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What we built —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15600" cy="3840480"/>
          </a:xfrm>
          <a:prstGeom prst="roundRect">
            <a:avLst>
              <a:gd name="adj" fmla="val 3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385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 Semibold"/>
              </a:rPr>
              <a:t>ARCHITECTURE  ·  3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14600"/>
            <a:ext cx="9784080" cy="914400"/>
          </a:xfrm>
          <a:prstGeom prst="roundRect">
            <a:avLst>
              <a:gd name="adj" fmla="val 4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14600"/>
            <a:ext cx="64008" cy="914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6791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UI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17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React 19 + Vite dashboard  ·  FastAPI REST  ·  Live status, chats, audits, threshold uploads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474720"/>
            <a:ext cx="9784080" cy="914400"/>
          </a:xfrm>
          <a:prstGeom prst="roundRect">
            <a:avLst>
              <a:gd name="adj" fmla="val 4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474720"/>
            <a:ext cx="64008" cy="9144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63931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Trust &amp; Crypto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77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AES-256-GCM  ·  Merkle proofs  ·  X25519 onion routing  ·  Shamir SSS  ·  Proof-of-storage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434840"/>
            <a:ext cx="9784080" cy="914400"/>
          </a:xfrm>
          <a:prstGeom prst="roundRect">
            <a:avLst>
              <a:gd name="adj" fmla="val 4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4434840"/>
            <a:ext cx="64008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599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P2P 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37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UDP HELLO discovery  ·  Kademlia XOR routing  ·  msgpack TCP  ·  k-copy + Reed-Solomon erasure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22D3EE"/>
                </a:solidFill>
                <a:latin typeface="Segoe UI Light"/>
              </a:rPr>
              <a:t>Every layer is local. Every node is sovereign. The network is the only coordinator.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INTRO 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What makes DistriStore different.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 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224"/>
                </a:solidFill>
                <a:latin typeface="Segoe UI"/>
              </a:rPr>
              <a:t>Truly zero-server P2P with cryptographic recipient gating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B1224"/>
                </a:solidFill>
                <a:latin typeface="Segoe UI"/>
              </a:rPr>
              <a:t>Not just trackerless — every privacy + integrity guarantee is local-only.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73152" cy="1508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73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22D3EE"/>
                </a:solidFill>
                <a:latin typeface="Segoe UI"/>
              </a:rPr>
              <a:t>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Zero central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No tracker, no DHT bootstrap, no coordinator.
UDP HELLO + HMAC swarm key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10896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108960"/>
            <a:ext cx="73152" cy="1508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73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A78BFA"/>
                </a:solidFill>
                <a:latin typeface="Segoe UI"/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Threshold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82219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AES key Shamir-split N peers; M needed.
Even the recipient can't go solo.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10896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3108960"/>
            <a:ext cx="73152" cy="1508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273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34D399"/>
                </a:solidFill>
                <a:latin typeface="Segoe UI"/>
              </a:rPr>
              <a:t>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Onion-routed fetches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2219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Layered SealedBox per hop — holder
doesn't know who fetched what.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0060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800600"/>
            <a:ext cx="73152" cy="1508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651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FBBF24"/>
                </a:solidFill>
                <a:latin typeface="Segoe UI"/>
              </a:rP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83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Proof-of-storage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1383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SHA-256 challenge-response; dishonest
peers lose reputation, get demoted.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80060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800600"/>
            <a:ext cx="73152" cy="1508760"/>
          </a:xfrm>
          <a:prstGeom prst="rect">
            <a:avLst/>
          </a:prstGeom>
          <a:solidFill>
            <a:srgbClr val="F4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9651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F471B5"/>
                </a:solidFill>
                <a:latin typeface="Segoe UI"/>
              </a:rPr>
              <a:t>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983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Consent-gated sharing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51383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File shares require an accepted 1:1
chat — no friend graph, no directory.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480060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4800600"/>
            <a:ext cx="73152" cy="15087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49651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FB7185"/>
                </a:solidFill>
                <a:latin typeface="Segoe UI"/>
              </a:rPr>
              <a:t>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983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Reed-Solomon erasure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51383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k=6 of n=9 shards. 1.5× storage with
the fault tolerance of 3× replication.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1 OF 6  ·  ZERO CENTRAL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There is literally nothing to take 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916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UDP HELLO broadcasts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84248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Each node periodically broadcasts a signed HELLO on the LAN. Peers learn each other purely via UDP.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560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HMAC-SHA256 swarm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52928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Every HELLO + every TCP frame is HMAC-authenticated against a shared swarm key. Outsiders are silently dropped.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2044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290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SO_REUSEADDR shared 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21608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Multiple nodes share one UDP discovery port on localhost — no port allocator service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2976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Self-managed routing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90288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Each node keeps an XOR-distance Kademlia routing table in SQLite. Peer death is detected by missed HELLOs.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1663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Cross-node manifest fetch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458968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Don't know where a file lives? Ask any peer for `/manifest/{hash}` — the network resolves itself.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69164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DISCOVERY TOPOLOGY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955280.0" y="3063240"/>
            <a:ext cx="2834640.0" cy="731520"/>
          </a:xfrm>
          <a:prstGeom prst="line">
            <a:avLst/>
          </a:prstGeom>
          <a:ln w="9525">
            <a:solidFill>
              <a:srgbClr val="6B7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55280.0" y="3794760"/>
            <a:ext cx="2468880.0" cy="1280160"/>
          </a:xfrm>
          <a:prstGeom prst="line">
            <a:avLst/>
          </a:prstGeom>
          <a:ln w="9525">
            <a:solidFill>
              <a:srgbClr val="6B7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424160.0" y="3063240"/>
            <a:ext cx="365760.0" cy="2011680"/>
          </a:xfrm>
          <a:prstGeom prst="line">
            <a:avLst/>
          </a:prstGeom>
          <a:ln w="9525">
            <a:solidFill>
              <a:srgbClr val="6B7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89520" y="34290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224"/>
                </a:solidFill>
                <a:latin typeface="Georgia"/>
              </a:rPr>
              <a:t>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26974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26974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224"/>
                </a:solidFill>
                <a:latin typeface="Georgia"/>
              </a:rPr>
              <a:t>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47091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4709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224"/>
                </a:solidFill>
                <a:latin typeface="Georgia"/>
              </a:rPr>
              <a:t>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617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6ECF7"/>
                </a:solidFill>
                <a:latin typeface="Segoe UI"/>
              </a:rPr>
              <a:t>Every node ↔ every node.  No coordinator.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29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7A1B7"/>
                </a:solidFill>
                <a:latin typeface="Segoe UI"/>
              </a:rPr>
              <a:t>Kill any node — the rest still find each other.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54406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543153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✕  NO SERVER ANYWHERE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2 OF 6  ·  THRESHOLD-ENCRYPTED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Even the recipient can't decrypt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224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Sender generates a random AES-256 key and encrypts the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889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224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34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Key is split into N Shamir shares (any M reconstruct it).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224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Each share is sealed (X25519 SealedBox) to a different peer.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224"/>
                </a:solidFill>
                <a:latin typeface="Segoe UI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Recipient fetches M shares, combines them, decrypts the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Segoe UI"/>
              </a:rPr>
              <a:t>✓ Sender cannot decrypt — they discarded the key.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Segoe UI"/>
              </a:rPr>
              <a:t>✓ Holder cannot decrypt — they hold one share, never see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Segoe UI"/>
              </a:rPr>
              <a:t>✓ Recipient can decrypt — but only if M peers cooperate.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69164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 Semibold"/>
              </a:rPr>
              <a:t>EXAMPLE  ·  M = 2 of N =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331720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377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"/>
              </a:rPr>
              <a:t>SENDER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520440"/>
            <a:ext cx="1188720" cy="5486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5661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224"/>
                </a:solidFill>
                <a:latin typeface="Segoe UI"/>
              </a:rPr>
              <a:t>share 1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818120" y="2880360"/>
            <a:ext cx="1325880.0" cy="640080"/>
          </a:xfrm>
          <a:prstGeom prst="line">
            <a:avLst/>
          </a:prstGeom>
          <a:ln w="127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0" y="3520440"/>
            <a:ext cx="1188720" cy="5486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5661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224"/>
                </a:solidFill>
                <a:latin typeface="Segoe UI"/>
              </a:rPr>
              <a:t>share 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0.0" y="2880360"/>
            <a:ext cx="137160.0" cy="640080"/>
          </a:xfrm>
          <a:prstGeom prst="line">
            <a:avLst/>
          </a:prstGeom>
          <a:ln w="127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49840" y="3520440"/>
            <a:ext cx="1188720" cy="5486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35661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224"/>
                </a:solidFill>
                <a:latin typeface="Segoe UI"/>
              </a:rPr>
              <a:t>share 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0.0" y="2880360"/>
            <a:ext cx="1600200.0" cy="640080"/>
          </a:xfrm>
          <a:prstGeom prst="line">
            <a:avLst/>
          </a:prstGeom>
          <a:ln w="127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503920" y="4800600"/>
            <a:ext cx="1280160" cy="64008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84632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224"/>
                </a:solidFill>
                <a:latin typeface="Segoe UI"/>
              </a:rPr>
              <a:t>RECIPIENT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18120" y="4069080"/>
            <a:ext cx="1325880.0" cy="73152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144000.0" y="4069080"/>
            <a:ext cx="137160.0" cy="73152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49440" y="5394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7A1B7"/>
                </a:solidFill>
                <a:latin typeface="Segoe UI"/>
              </a:rPr>
              <a:t>If a holder goes offline → quorum fails → file stays sealed.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3 OF 6  ·  ONION-ROUTED CHUNK FETCHES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Tor-style privacy for every download.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1600"/>
              </a:spcAft>
            </a:pPr>
            <a:r>
              <a:rPr sz="1200" b="0" i="0">
                <a:solidFill>
                  <a:srgbClr val="E6ECF7"/>
                </a:solidFill>
                <a:latin typeface="Segoe UI"/>
              </a:rPr>
              <a:t>In a normal P2P system the peer holding your data sees who's asking. In DistriStore, every chunk fetch is wrapped in layered SealedBox encryption — so the holder can't tell who initiated the request, and intermediate hops can't see the request body.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Each node generates a persistent X25519 keypair on first boot.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Public keys are gossiped via UDP HELLO.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Requester picks a random circuit: relay₁ → relay₂ → holder.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Each layer is SealedBox-encrypted to that hop's pubkey only.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Each relay peels its layer, sees only the next-hop address.</a:t>
            </a:r>
          </a:p>
          <a:p>
            <a:pPr algn="l">
              <a:spcAft>
                <a:spcPts val="16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Holder receives the request, returns chunk through reverse path.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Bonus: receipt with the full path</a:t>
            </a:r>
          </a:p>
          <a:p>
            <a:pPr algn="l"/>
            <a:r>
              <a:rPr sz="1100" b="0" i="1">
                <a:solidFill>
                  <a:srgbClr val="97A1B7"/>
                </a:solidFill>
                <a:latin typeface="Segoe UI"/>
              </a:rPr>
              <a:t>Sender + recipient see the actual hops the file travelled — verifiable, not just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9164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Segoe UI Semibold"/>
              </a:rPr>
              <a:t>ONION CIRCUIT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5740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260604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361188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7091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CF7"/>
                </a:solidFill>
                <a:latin typeface="Segoe UI"/>
              </a:rPr>
              <a:t>outer: encrypted to relay₁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0657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50017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CF7"/>
                </a:solidFill>
                <a:latin typeface="Segoe UI"/>
              </a:rPr>
              <a:t>middle: encrypted to relay₂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3583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529437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CF7"/>
                </a:solidFill>
                <a:latin typeface="Segoe UI"/>
              </a:rPr>
              <a:t>inner: encrypted to holder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565099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58698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CF7"/>
                </a:solidFill>
                <a:latin typeface="Segoe UI"/>
              </a:rPr>
              <a:t>request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4 OF 6  ·  PROOF-OF-STORAGE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Trust, but verify — every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Segoe UI Semibold"/>
              </a:rPr>
              <a:t>CHALLENGE-RESPONSE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CF7"/>
                </a:solidFill>
                <a:latin typeface="Consolas"/>
              </a:rPr>
              <a:t>auditor sends:  (chunk_hash, random_nonce)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CF7"/>
                </a:solidFill>
                <a:latin typeface="Consolas"/>
              </a:rPr>
              <a:t>peer must return:  SHA-256( chunk_bytes ‖ nonce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7A1B7"/>
                </a:solidFill>
                <a:latin typeface="Segoe UI"/>
              </a:rPr>
              <a:t>Auditor recomputes locally — match = pass, mismatch or timeout =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73152" cy="2468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478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Reputation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96512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Every audit result updates a sliding-window reputation score.
Repeat failures → peer marked unreliable → demoted from chunk placement.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8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383280"/>
            <a:ext cx="73152" cy="2468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5478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22D3EE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Random + targeted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096512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Background loop fires random audits every 30s.
Operators can also fire `/audit/run/{peer_id}` on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38328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80" y="3383280"/>
            <a:ext cx="73152" cy="2468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5478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566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ECF7"/>
                </a:solidFill>
                <a:latin typeface="Segoe UI"/>
              </a:rPr>
              <a:t>Self-healing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096512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Once a peer is flagged, missing replicas are re-pushed to healthier peers.
Storage gets stronger over time, not weaker.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5 OF 6  ·  CONSENT-GATED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Your inbox is yours — invitations are mandatory.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 Semibold"/>
              </a:rPr>
              <a:t>EVERY OTHER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 Semibold"/>
              </a:rPr>
              <a:t>DISTRISTORE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774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Anyone with the hash can fetch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Threshold files refuse non-recipients (HTTP 403)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1089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918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Senders can spam your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918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Peers can only send if you've accepted their chat invite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0233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1605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062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Friend lists / contact servers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1605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062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No friend graph — chat invite IS the consent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9377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074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1206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Discovery via central directory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937760"/>
            <a:ext cx="4937760" cy="777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074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206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Peers discovered via UDP only; you opt in to each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A78BFA"/>
                </a:solidFill>
                <a:latin typeface="Segoe UI Light"/>
              </a:rPr>
              <a:t>Result: a P2P network with social-graph privacy guarantees, without a social-graph server.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NOVELTY 6 OF 6  ·  REED-SOLOMON ERASURE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Same fault tolerance, half the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26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224"/>
                </a:solidFill>
                <a:latin typeface="Segoe UI Semibold"/>
              </a:rPr>
              <a:t>★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B7185"/>
                </a:solidFill>
                <a:latin typeface="Segoe UI"/>
              </a:rPr>
              <a:t>Storage cost vs. fault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k-copy (legacy)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243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B7185"/>
                </a:solidFill>
                <a:latin typeface="Segoe UI"/>
              </a:rPr>
              <a:t>3.0×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62432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Reed-Solomon (k=6, n=9)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044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Segoe UI"/>
              </a:rPr>
              <a:t>1.5×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90448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6ECF7"/>
                </a:solidFill>
                <a:latin typeface="Segoe UI"/>
              </a:rPr>
              <a:t>Identical fault tolerance: any 3 peers can fail, file still recovers.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69164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Segoe UI Semibold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40280"/>
            <a:ext cx="43891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6ECF7"/>
                </a:solidFill>
                <a:latin typeface="Segoe UI"/>
              </a:rPr>
              <a:t>Each chunk → 9 shards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6 data shards + 3 parity shards (Vandermonde GF(2⁸))</a:t>
            </a:r>
          </a:p>
          <a:p>
            <a:pPr algn="l">
              <a:spcAft>
                <a:spcPts val="1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Any 6 of 9 reconstruct the original chunk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6ECF7"/>
                </a:solidFill>
                <a:latin typeface="Segoe UI"/>
              </a:rPr>
              <a:t>Library</a:t>
            </a:r>
          </a:p>
          <a:p>
            <a:pPr algn="l">
              <a:spcAft>
                <a:spcPts val="1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zfec — battle-tested by Tahoe-LAFS for 15+ years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6ECF7"/>
                </a:solidFill>
                <a:latin typeface="Segoe UI"/>
              </a:rPr>
              <a:t>Tradeoff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Encode is CPU-bound but parallelized via ProcessPoolExecutor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7A1B7"/>
                </a:solidFill>
                <a:latin typeface="Segoe UI"/>
              </a:rPr>
              <a:t>• Decode only runs when a shard is missing</a:t>
            </a:r>
          </a:p>
          <a:p>
            <a:pPr algn="l"/>
            <a:r>
              <a:rPr sz="1200" b="0" i="0">
                <a:solidFill>
                  <a:srgbClr val="97A1B7"/>
                </a:solidFill>
                <a:latin typeface="Segoe UI"/>
              </a:rPr>
              <a:t>• Toggle per-config: `replication.mode: erasure | kcopy`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NOVELTY 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CRYPTO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Defense in depth — every layer pulls its weight.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64008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Segoe UI Semibold"/>
              </a:rPr>
              <a:t>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AES-256-GCM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Authenticated; tampering = decrypt fails.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2194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 Semibold"/>
              </a:rPr>
              <a:t>KEY DERIVATION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PBKDF2-HMAC-SHA256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100K iterations + per-file salt.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91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691640"/>
            <a:ext cx="64008" cy="2194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 Semibold"/>
              </a:rPr>
              <a:t>CONTENT ADDRESSING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SHA-256 + Merkle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Per-chunk proof; corruption detected before merge.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690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69080"/>
            <a:ext cx="64008" cy="2194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 Semibold"/>
              </a:rPr>
              <a:t>ONION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X25519 + SealedBox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PyNaCl Curve25519, ECDH + XSalsa20-Poly1305.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0690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69080"/>
            <a:ext cx="64008" cy="2194560"/>
          </a:xfrm>
          <a:prstGeom prst="rect">
            <a:avLst/>
          </a:prstGeom>
          <a:solidFill>
            <a:srgbClr val="F4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97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71B5"/>
                </a:solidFill>
                <a:latin typeface="Segoe UI Semibold"/>
              </a:rPr>
              <a:t>THRESHOLD KEY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Shamir SSS (16-byte halves)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257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AES key split, recombined client-side.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0" y="40690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4069080"/>
            <a:ext cx="64008" cy="21945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Segoe UI Semibold"/>
              </a:rPr>
              <a:t>SWARM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ECF7"/>
                </a:solidFill>
                <a:latin typeface="Segoe UI"/>
              </a:rPr>
              <a:t>HMAC-SHA256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57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7A1B7"/>
                </a:solidFill>
                <a:latin typeface="Segoe UI"/>
              </a:rPr>
              <a:t>Pre-shared key on every UDP HELLO + TCP frame.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TECHNOLOGY 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Numbers from a 3-node localhost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383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22D3EE"/>
                </a:solidFill>
                <a:latin typeface="Segoe UI"/>
              </a:rPr>
              <a:t>84.3 MB/s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6ECF7"/>
                </a:solidFill>
                <a:latin typeface="Segoe UI"/>
              </a:rPr>
              <a:t>Upload @ 50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7A1B7"/>
                </a:solidFill>
                <a:latin typeface="Segoe UI"/>
              </a:rPr>
              <a:t>Encrypt + chunk + replicate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A78BFA"/>
                </a:solidFill>
                <a:latin typeface="Segoe UI"/>
              </a:rPr>
              <a:t>108.1 MB/s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6ECF7"/>
                </a:solidFill>
                <a:latin typeface="Segoe UI"/>
              </a:rPr>
              <a:t>Local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7A1B7"/>
                </a:solidFill>
                <a:latin typeface="Segoe UI"/>
              </a:rPr>
              <a:t>Chunk load + decrypt + serve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691640"/>
            <a:ext cx="33832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0574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34D399"/>
                </a:solidFill>
                <a:latin typeface="Segoe UI"/>
              </a:rPr>
              <a:t>82.9 MB/s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834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6ECF7"/>
                </a:solidFill>
                <a:latin typeface="Segoe UI"/>
              </a:rPr>
              <a:t>Cross-node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7A1B7"/>
                </a:solidFill>
                <a:latin typeface="Segoe UI"/>
              </a:rPr>
              <a:t>From peer over 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 Semibold"/>
              </a:rPr>
              <a:t>Throughput across sizes  ·  random (incompressible) data  ·  AES-256-GCM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97680"/>
            <a:ext cx="10515600" cy="1828800"/>
          </a:xfrm>
          <a:prstGeom prst="roundRect">
            <a:avLst>
              <a:gd name="adj" fmla="val 3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A1B7"/>
                </a:solidFill>
                <a:latin typeface="Segoe UI Semibold"/>
              </a:rPr>
              <a:t>File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A1B7"/>
                </a:solidFill>
                <a:latin typeface="Segoe UI Semibold"/>
              </a:rPr>
              <a:t>Upload (α)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A1B7"/>
                </a:solidFill>
                <a:latin typeface="Segoe UI Semibold"/>
              </a:rPr>
              <a:t>DL local (α)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389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A1B7"/>
                </a:solidFill>
                <a:latin typeface="Segoe UI Semibold"/>
              </a:rPr>
              <a:t>DL cross-node (β)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A1B7"/>
                </a:solidFill>
                <a:latin typeface="Segoe UI Semibold"/>
              </a:rPr>
              <a:t>Round-trip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CF7"/>
                </a:solidFill>
                <a:latin typeface="Segoe UI"/>
              </a:rPr>
              <a:t>1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800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15.3 MB/s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800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15.6 MB/s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800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4.8 MB/s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130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8464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CF7"/>
                </a:solidFill>
                <a:latin typeface="Segoe UI"/>
              </a:rPr>
              <a:t>10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184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45.8 MB/s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184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38.0 MB/s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184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24.9 MB/s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1846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481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56869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CF7"/>
                </a:solidFill>
                <a:latin typeface="Segoe UI"/>
              </a:rPr>
              <a:t>50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5686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84.3 MB/s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5686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108.1 MB/s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56869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nsolas"/>
              </a:rPr>
              <a:t>82.9 MB/s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5686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onsolas"/>
              </a:rPr>
              <a:t>1.06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RESULTS 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Modern Python + React, no exotic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6400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5623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900684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27148"/>
            <a:ext cx="9006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Python 3.11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9404" y="233172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9404" y="2327148"/>
            <a:ext cx="13670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FastAPI + asyncio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331720"/>
            <a:ext cx="58978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327148"/>
            <a:ext cx="5897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uvicorn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9100" y="2331720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9100" y="2327148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msgpack + orjson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743200"/>
            <a:ext cx="745236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38628"/>
            <a:ext cx="7452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zstandard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3956" y="2743200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3956" y="2738628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PyCryptodome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3804" y="2743200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3804" y="2738628"/>
            <a:ext cx="5120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PyNaCl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7308" y="2743200"/>
            <a:ext cx="356616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7308" y="2738628"/>
            <a:ext cx="356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zfec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9164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691640"/>
            <a:ext cx="64008" cy="2331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5623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331720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327148"/>
            <a:ext cx="6675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React 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5472" y="2331720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2327148"/>
            <a:ext cx="5120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Vite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08976" y="2331720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8976" y="2327148"/>
            <a:ext cx="1056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Zustand 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6548" y="2331720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6548" y="2327148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Lucide icons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6396" y="2331720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6396" y="2327148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React Router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2743200"/>
            <a:ext cx="434340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738628"/>
            <a:ext cx="4343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Axios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2300" y="2743200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2300" y="2738628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JetBrains Mono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20624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4206240"/>
            <a:ext cx="64008" cy="2331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437083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Storage / persistence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484632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841748"/>
            <a:ext cx="13670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SQLite (WAL mode)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55748" y="48463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55748" y="4841748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Filesystem chunk store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02836" y="4846320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2836" y="4841748"/>
            <a:ext cx="1056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256 KB chunks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257800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5253228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LRU eviction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67128" y="525780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67128" y="5253228"/>
            <a:ext cx="14447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5 GB default quota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420624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4206240"/>
            <a:ext cx="64008" cy="2331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37083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Network protocols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4846320"/>
            <a:ext cx="1911095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841748"/>
            <a:ext cx="19110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UDP HMAC HELLO discovery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49055" y="484632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49055" y="4841748"/>
            <a:ext cx="15224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TCP msgpack framing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62971" y="4846320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62971" y="4841748"/>
            <a:ext cx="1056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HTTP REST API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52578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5253228"/>
            <a:ext cx="16779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WebSocket chat bridge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15884" y="5257800"/>
            <a:ext cx="1522476" cy="310896"/>
          </a:xfrm>
          <a:prstGeom prst="roundRect">
            <a:avLst>
              <a:gd name="adj" fmla="val 50000"/>
            </a:avLst>
          </a:prstGeom>
          <a:solidFill>
            <a:srgbClr val="0B1224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5884" y="5253228"/>
            <a:ext cx="15224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CF7"/>
                </a:solidFill>
                <a:latin typeface="Segoe UI Semibold"/>
              </a:rPr>
              <a:t>X25519 onion layers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TECHNOLOGY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114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 Semibold"/>
              </a:rPr>
              <a:t>WHERE WE 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6ECF7"/>
                </a:solidFill>
                <a:latin typeface="Segoe UI"/>
              </a:rPr>
              <a:t>DistriStore vs. the alternatives.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4206240"/>
          </a:xfrm>
          <a:prstGeom prst="roundRect">
            <a:avLst>
              <a:gd name="adj" fmla="val 4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7A1B7"/>
                </a:solidFill>
                <a:latin typeface="Segoe UI Semibold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874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97A1B7"/>
                </a:solidFill>
                <a:latin typeface="Segoe UI Semibold"/>
              </a:rPr>
              <a:t>Dropbox /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74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97A1B7"/>
                </a:solidFill>
                <a:latin typeface="Segoe UI Semibold"/>
              </a:rPr>
              <a:t>BitTorrent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97A1B7"/>
                </a:solidFill>
                <a:latin typeface="Segoe UI Semibold"/>
              </a:rPr>
              <a:t>IPFS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74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Segoe UI Semibold"/>
              </a:rPr>
              <a:t>DistriStore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86000"/>
            <a:ext cx="101498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No central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✕ (tracker)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✕ (gateway)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437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End-to-end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843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43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43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4378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644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Recipient gating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2644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644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644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644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85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Threshold encryption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6850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056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Onion-routed fetches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1056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1056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1056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1056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Proof-of-storage audits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26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9469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Erasure coding default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49469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469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9469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94690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367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CF7"/>
                </a:solidFill>
                <a:latin typeface="Segoe UI"/>
              </a:rPr>
              <a:t>Trackerless discovery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5367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367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367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367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A78BFA"/>
                </a:solidFill>
                <a:latin typeface="Segoe UI"/>
              </a:rPr>
              <a:t>DistriStore is the only system that combines all four privacy + integrity guarantees.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29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92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68F"/>
                </a:solidFill>
                <a:latin typeface="Segoe UI"/>
              </a:rPr>
              <a:t>DistriStore  ·  Trackerless P2P Storage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649224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68F"/>
                </a:solidFill>
                <a:latin typeface="Segoe UI Semibold"/>
              </a:rPr>
              <a:t>RESULTS 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E6ECF7"/>
                </a:solidFill>
                <a:latin typeface="Segoe UI"/>
              </a:rPr>
              <a:t>DistriStore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97A1B7"/>
                </a:solidFill>
                <a:latin typeface="Segoe UI Light"/>
              </a:rPr>
              <a:t>Trackerless. Encrypted. Recipient-gated.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34D399"/>
                </a:solidFill>
                <a:latin typeface="Segoe UI"/>
              </a:rPr>
              <a:t>39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 Light"/>
              </a:rPr>
              <a:t>smoke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97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5720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22D3EE"/>
                </a:solidFill>
                <a:latin typeface="Segoe UI"/>
              </a:rPr>
              <a:t>108 MB/s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57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 Light"/>
              </a:rPr>
              <a:t>peak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297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9525">
            <a:solidFill>
              <a:srgbClr val="29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5720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A78BFA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5257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7A1B7"/>
                </a:solidFill>
                <a:latin typeface="Segoe UI Light"/>
              </a:rPr>
              <a:t>central servers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E6ECF7"/>
                </a:solidFill>
                <a:latin typeface="Segoe UI Light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